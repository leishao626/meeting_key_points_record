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65" r:id="rId6"/>
    <p:sldId id="266" r:id="rId7"/>
    <p:sldId id="267" r:id="rId8"/>
    <p:sldId id="259" r:id="rId9"/>
    <p:sldId id="260" r:id="rId10"/>
    <p:sldId id="268" r:id="rId11"/>
    <p:sldId id="271" r:id="rId12"/>
    <p:sldId id="273" r:id="rId13"/>
    <p:sldId id="272" r:id="rId14"/>
    <p:sldId id="274" r:id="rId15"/>
    <p:sldId id="269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数据来源：本地导出的 SEC、Ordered、Random W&amp;B offline run 与终端日志。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结论严格区分：训练过程、内部验证结果和论文 ID/OOD 复现不是同一件事。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结论严格区分：训练过程、内部验证结果和论文 ID/OOD 复现不是同一件事。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配置依据：运行脚本与训练日志中的最终解析配置。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数据来源：SEC 和 Ordered 本地日志中的 Final validation metrics。Random 日志没有最终验证输出。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数据：sec_metrics.csv、ordered_metrics.csv、random_metrics.csv 的 critic/score/mean。缺失步数留空，不把 W&amp;B 记录行数当成实际训练步数。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数据：loader/average_difficulty。这里的 Ordered 难度为 1，反映本次项目实现的固定顺序配置。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结论严格区分：训练过程、内部验证结果和论文 ID/OOD 复现不是同一件事。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结论严格区分：训练过程、内部验证结果和论文 ID/OOD 复现不是同一件事。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结论严格区分：训练过程、内部验证结果和论文 ID/OOD 复现不是同一件事。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结论严格区分：训练过程、内部验证结果和论文 ID/OOD 复现不是同一件事。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结论严格区分：训练过程、内部验证结果和论文 ID/OOD 复现不是同一件事。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结论严格区分：训练过程、内部验证结果和论文 ID/OOD 复现不是同一件事。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800100" y="1619250"/>
            <a:ext cx="10572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7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9.29</a:t>
            </a:r>
            <a:r>
              <a:rPr lang="zh-CN" altLang="en-US" sz="7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组会汇报</a:t>
            </a:r>
            <a:endParaRPr lang="zh-CN" altLang="en-US" sz="7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99515" y="5445125"/>
            <a:ext cx="9525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0000"/>
          </a:bodyPr>
          <a:lstStyle/>
          <a:p>
            <a:pPr algn="ctr">
              <a:defRPr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2026.09.29 </a:t>
            </a:r>
            <a:r>
              <a:rPr lang="zh-CN" altLang="zh-CN" sz="1500" b="0">
                <a:solidFill>
                  <a:srgbClr val="9FB3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邵磊</a:t>
            </a:r>
            <a:endParaRPr lang="zh-CN" altLang="zh-CN" sz="1500" b="0">
              <a:solidFill>
                <a:srgbClr val="9FB3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近期工作</a:t>
            </a:r>
            <a:endParaRPr lang="zh-CN" sz="25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200" b="0">
                <a:solidFill>
                  <a:srgbClr val="526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5260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0885" y="1253490"/>
            <a:ext cx="5727700" cy="3846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1.SEC</a:t>
            </a:r>
            <a:r>
              <a:rPr lang="zh-CN" altLang="en-US" sz="2800"/>
              <a:t>课程策略实验小规模验证</a:t>
            </a:r>
            <a:endParaRPr lang="zh-CN" altLang="en-US" sz="2800"/>
          </a:p>
          <a:p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2.</a:t>
            </a:r>
            <a:r>
              <a:rPr lang="zh-CN" altLang="en-US" sz="2800"/>
              <a:t>论文阅读</a:t>
            </a:r>
            <a:endParaRPr lang="zh-CN" altLang="en-US" sz="2800"/>
          </a:p>
          <a:p>
            <a:endParaRPr lang="zh-CN" altLang="en-US" sz="2800"/>
          </a:p>
          <a:p>
            <a:endParaRPr lang="zh-CN" altLang="en-US" sz="2800"/>
          </a:p>
          <a:p>
            <a:r>
              <a:rPr lang="en-US" altLang="zh-CN" sz="2800"/>
              <a:t>3.</a:t>
            </a:r>
            <a:r>
              <a:rPr lang="zh-CN" altLang="en-US" sz="2800"/>
              <a:t>个人想法</a:t>
            </a:r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22935" y="2924810"/>
            <a:ext cx="10972800" cy="88963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4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1.SEC</a:t>
            </a:r>
            <a:r>
              <a:rPr lang="zh-CN" altLang="en-US" sz="4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课程策略实验小规模验证</a:t>
            </a:r>
            <a:endParaRPr lang="zh-CN" altLang="en-US" sz="48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200" b="0">
                <a:solidFill>
                  <a:srgbClr val="526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5260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>
            <a:spLocks noGrp="1"/>
          </p:cNvSpPr>
          <p:nvPr/>
        </p:nvSpPr>
        <p:spPr>
          <a:xfrm>
            <a:off x="609600" y="3238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lang="zh-CN"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r>
              <a: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</a:t>
            </a:r>
            <a:endParaRPr sz="25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952500" y="1381125"/>
          <a:ext cx="10287000" cy="3556000"/>
        </p:xfrm>
        <a:graphic>
          <a:graphicData uri="http://schemas.openxmlformats.org/drawingml/2006/table">
            <a:tbl>
              <a:tblPr firstRow="1" bandRow="1"/>
              <a:tblGrid>
                <a:gridCol w="2857500"/>
                <a:gridCol w="7429500"/>
              </a:tblGrid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配置项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设置</a:t>
                      </a:r>
                      <a:endParaRPr sz="15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Qwen2.5-3B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硬件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A100 PCIe 40GB</a:t>
                      </a:r>
                      <a:r>
                        <a:rPr lang="en-US"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* 2</a:t>
                      </a:r>
                      <a:endParaRPr lang="en-US"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</a:t>
                      </a:r>
                      <a:r>
                        <a:rPr lang="zh-CN"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数据集</a:t>
                      </a:r>
                      <a:endParaRPr lang="zh-CN"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Countdown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lang="zh-CN"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</a:t>
                      </a:r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步数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240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 batch / rollout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64 / 4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444500"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最大响应长度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2048 tokens</a:t>
                      </a:r>
                      <a:endParaRPr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4445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框架</a:t>
                      </a:r>
                      <a:endParaRPr lang="zh-CN" altLang="en-US"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425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verl+Ray+vLLM</a:t>
                      </a:r>
                      <a:endParaRPr lang="en-US" altLang="zh-CN" sz="1425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</a:t>
            </a:r>
            <a:r>
              <a: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25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200" b="0">
                <a:solidFill>
                  <a:srgbClr val="526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5260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66750" y="1524000"/>
          <a:ext cx="10858500" cy="2190752"/>
        </p:xfrm>
        <a:graphic>
          <a:graphicData uri="http://schemas.openxmlformats.org/drawingml/2006/table">
            <a:tbl>
              <a:tblPr firstRow="1" bandRow="1"/>
              <a:tblGrid>
                <a:gridCol w="1782739"/>
                <a:gridCol w="1458604"/>
                <a:gridCol w="1458605"/>
                <a:gridCol w="1458604"/>
                <a:gridCol w="1458605"/>
                <a:gridCol w="1620671"/>
                <a:gridCol w="1620672"/>
              </a:tblGrid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策略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easy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medium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hard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very_hard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完成情况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A43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zh-CN"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耗时</a:t>
                      </a:r>
                      <a:endParaRPr lang="zh-CN" altLang="zh-CN"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02A43"/>
                    </a:solidFill>
                  </a:tcPr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SEC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0.94375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0.70625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0.60125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0.05750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240 步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8小时33分钟</a:t>
                      </a:r>
                      <a:endParaRPr lang="zh-CN" altLang="en-US"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Ordered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0.72750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0.61250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0.23750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0.02625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240 步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10小时21分钟</a:t>
                      </a:r>
                      <a:endParaRPr lang="zh-CN" altLang="en-US"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7688"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Random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—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52 步中止</a:t>
                      </a:r>
                      <a:endParaRPr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350">
                          <a:solidFill>
                            <a:srgbClr val="172B4D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6小时50分钟</a:t>
                      </a:r>
                      <a:endParaRPr lang="zh-CN" altLang="en-US" sz="1350">
                        <a:solidFill>
                          <a:srgbClr val="172B4D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矩形 3"/>
          <p:cNvSpPr>
            <a:spLocks noGrp="1"/>
          </p:cNvSpPr>
          <p:nvPr/>
        </p:nvSpPr>
        <p:spPr>
          <a:xfrm>
            <a:off x="857250" y="4429125"/>
            <a:ext cx="10477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6750" y="836295"/>
            <a:ext cx="5173980" cy="464185"/>
          </a:xfrm>
          <a:prstGeom prst="rect">
            <a:avLst/>
          </a:prstGeom>
        </p:spPr>
        <p:txBody>
          <a:bodyPr>
            <a:noAutofit/>
          </a:bodyPr>
          <a:p>
            <a:r>
              <a:rPr lang="en-US" altLang="zh-CN" sz="2800"/>
              <a:t>Countdown </a:t>
            </a:r>
            <a:r>
              <a:rPr lang="zh-CN" altLang="en-US" sz="2800"/>
              <a:t>验证集平均奖励</a:t>
            </a:r>
            <a:endParaRPr lang="zh-CN" altLang="en-US" sz="2800"/>
          </a:p>
        </p:txBody>
      </p:sp>
      <p:sp>
        <p:nvSpPr>
          <p:cNvPr id="6" name="文本框 5"/>
          <p:cNvSpPr txBox="1"/>
          <p:nvPr/>
        </p:nvSpPr>
        <p:spPr>
          <a:xfrm>
            <a:off x="628650" y="3924300"/>
            <a:ext cx="8562975" cy="222694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2800"/>
              <a:t>注：</a:t>
            </a:r>
            <a:r>
              <a:rPr lang="en-US" altLang="zh-CN" sz="2800"/>
              <a:t>Countdown </a:t>
            </a:r>
            <a:r>
              <a:rPr lang="zh-CN" altLang="en-US" sz="2800"/>
              <a:t>的 </a:t>
            </a:r>
            <a:r>
              <a:rPr lang="en-US" altLang="zh-CN" sz="2800"/>
              <a:t>reward </a:t>
            </a:r>
            <a:r>
              <a:rPr lang="zh-CN" altLang="en-US" sz="2800"/>
              <a:t>规则</a:t>
            </a:r>
            <a:endParaRPr lang="zh-CN" altLang="en-US" sz="2800"/>
          </a:p>
          <a:p>
            <a:r>
              <a:rPr lang="en-US" altLang="zh-CN" sz="2800"/>
              <a:t>1.</a:t>
            </a:r>
            <a:r>
              <a:rPr lang="zh-CN" altLang="en-US" sz="2800"/>
              <a:t>答案正确：1.0</a:t>
            </a:r>
            <a:endParaRPr lang="zh-CN" altLang="en-US" sz="2800"/>
          </a:p>
          <a:p>
            <a:r>
              <a:rPr lang="en-US" altLang="zh-CN" sz="2800"/>
              <a:t>2.</a:t>
            </a:r>
            <a:r>
              <a:rPr lang="zh-CN" altLang="en-US" sz="2800"/>
              <a:t>格式正确但答案错误：0.1</a:t>
            </a:r>
            <a:endParaRPr lang="zh-CN" altLang="en-US" sz="2800"/>
          </a:p>
          <a:p>
            <a:r>
              <a:rPr lang="en-US" altLang="zh-CN" sz="2800"/>
              <a:t>3.</a:t>
            </a:r>
            <a:r>
              <a:rPr lang="zh-CN" altLang="en-US" sz="2800"/>
              <a:t>格式错误：0</a:t>
            </a:r>
            <a:endParaRPr lang="zh-CN" altLang="en-US" sz="2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训练得分曲线</a:t>
            </a:r>
            <a:endParaRPr sz="25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SEC_Ordered_Random_score_curv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1270" y="838200"/>
            <a:ext cx="9803765" cy="54298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609600" y="3238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课程难度变化</a:t>
            </a:r>
            <a:endParaRPr sz="255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 descr="SEC_Ordered_Random_curriculum_difficult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9515" y="1052830"/>
            <a:ext cx="9699625" cy="50114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22935" y="2924810"/>
            <a:ext cx="10972800" cy="88963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4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</a:t>
            </a:r>
            <a:r>
              <a:rPr lang="zh-CN" altLang="en-US" sz="4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</a:t>
            </a:r>
            <a:r>
              <a:rPr lang="zh-CN" altLang="en-US" sz="4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阅读</a:t>
            </a:r>
            <a:endParaRPr lang="zh-CN" altLang="en-US" sz="48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200" b="0">
                <a:solidFill>
                  <a:srgbClr val="526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5260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Rethinking On-Policy Distillation</a:t>
            </a:r>
            <a:endParaRPr lang="en-US" alt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200" b="0">
                <a:solidFill>
                  <a:srgbClr val="526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5260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0885" y="1253490"/>
            <a:ext cx="9718675" cy="3846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>
                <a:sym typeface="+mn-ea"/>
              </a:rPr>
              <a:t>稠密监督学习下，数据的状态覆盖率比数据集大小重要。</a:t>
            </a:r>
            <a:endParaRPr lang="zh-CN" altLang="en-US" sz="2800"/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109728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3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GradAlign: Gradient-Aligned Data Selection for LLM Reinforcement Learning</a:t>
            </a:r>
            <a:endParaRPr lang="en-US" altLang="zh-CN" sz="23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200" b="0">
                <a:solidFill>
                  <a:srgbClr val="526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5260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0885" y="1253490"/>
            <a:ext cx="9718675" cy="3846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用一个可信验证集估计性能提升方向，再按候选训练问题的策略梯度与该方向的对齐程度（余弦相似度）动态选题。</a:t>
            </a:r>
            <a:endParaRPr lang="en-US" altLang="zh-CN" sz="2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10972800" cy="92900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Transferability for General Reasoning:</a:t>
            </a:r>
            <a:endParaRPr lang="en-US" altLang="zh-CN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4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 Automated Curriculum for Multi-Domain RLVR</a:t>
            </a:r>
            <a:endParaRPr lang="zh-CN" altLang="en-US" sz="24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200" b="0">
                <a:solidFill>
                  <a:srgbClr val="526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5260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0885" y="1253490"/>
            <a:ext cx="10431780" cy="3846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800"/>
              <a:t>TAC</a:t>
            </a:r>
            <a:r>
              <a:rPr lang="zh-CN" altLang="en-US" sz="2800"/>
              <a:t>每个</a:t>
            </a:r>
            <a:r>
              <a:rPr lang="en-US" altLang="zh-CN" sz="2800"/>
              <a:t>arm</a:t>
            </a:r>
            <a:r>
              <a:rPr lang="zh-CN" altLang="en-US" sz="2800"/>
              <a:t>的价值由两因素影响：</a:t>
            </a:r>
            <a:endParaRPr lang="zh-CN" altLang="en-US" sz="2800"/>
          </a:p>
          <a:p>
            <a:r>
              <a:rPr lang="en-US" altLang="zh-CN" sz="2800"/>
              <a:t>1.</a:t>
            </a:r>
            <a:r>
              <a:rPr lang="zh-CN" altLang="en-US" sz="2800"/>
              <a:t>局部可学习</a:t>
            </a:r>
            <a:r>
              <a:rPr lang="zh-CN" altLang="en-US" sz="2800"/>
              <a:t>性；</a:t>
            </a:r>
            <a:endParaRPr lang="zh-CN" altLang="en-US" sz="2800"/>
          </a:p>
          <a:p>
            <a:r>
              <a:rPr lang="en-US" altLang="zh-CN" sz="2800"/>
              <a:t>2.</a:t>
            </a:r>
            <a:r>
              <a:rPr lang="zh-CN" altLang="en-US" sz="2800"/>
              <a:t>跨域迁移影响，论文采用梯度余弦相似度作为</a:t>
            </a:r>
            <a:r>
              <a:rPr lang="zh-CN" altLang="en-US" sz="2800"/>
              <a:t>代理；</a:t>
            </a:r>
            <a:endParaRPr lang="zh-CN" altLang="en-US" sz="28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1585" y="3140710"/>
            <a:ext cx="3762375" cy="6381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09600" y="323850"/>
            <a:ext cx="10972800" cy="8001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l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3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Towards Effective and Efficient Continual Pre-training of Large Language Models</a:t>
            </a:r>
            <a:endParaRPr lang="en-US" altLang="zh-CN" sz="23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200" b="0">
                <a:solidFill>
                  <a:srgbClr val="526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5260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30885" y="1253490"/>
            <a:ext cx="10633075" cy="3846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持续预训练</a:t>
            </a:r>
            <a:r>
              <a:rPr lang="en-US" altLang="zh-CN" sz="2800"/>
              <a:t>CPT</a:t>
            </a:r>
            <a:endParaRPr lang="en-US" altLang="zh-CN" sz="2800"/>
          </a:p>
          <a:p>
            <a:r>
              <a:rPr lang="zh-CN" altLang="en-US" sz="2800"/>
              <a:t>通过两个阶段（双语适应、合成增强）增强了模型的中文</a:t>
            </a:r>
            <a:r>
              <a:rPr lang="zh-CN" altLang="en-US" sz="2800"/>
              <a:t>和科学推理能力，同时尽量不损害原有</a:t>
            </a:r>
            <a:r>
              <a:rPr lang="zh-CN" altLang="en-US" sz="2800"/>
              <a:t>能力。</a:t>
            </a:r>
            <a:endParaRPr lang="zh-CN" altLang="en-US" sz="2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矩形 7"/>
          <p:cNvSpPr>
            <a:spLocks noGrp="1"/>
          </p:cNvSpPr>
          <p:nvPr/>
        </p:nvSpPr>
        <p:spPr>
          <a:xfrm>
            <a:off x="622935" y="2924810"/>
            <a:ext cx="10972800" cy="88963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55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4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</a:t>
            </a:r>
            <a:r>
              <a:rPr lang="zh-CN" altLang="en-US" sz="4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</a:t>
            </a:r>
            <a:r>
              <a:rPr lang="zh-CN" altLang="en-US" sz="4800" b="1">
                <a:solidFill>
                  <a:srgbClr val="102A4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想法</a:t>
            </a:r>
            <a:endParaRPr lang="zh-CN" altLang="en-US" sz="4800" b="1">
              <a:solidFill>
                <a:srgbClr val="102A4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28650" y="83820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lnSpcReduction="10000"/>
          </a:bodyPr>
          <a:lstStyle/>
          <a:p>
            <a:pPr algn="l">
              <a:defRPr sz="1200" b="0">
                <a:solidFill>
                  <a:srgbClr val="52606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200" b="0">
              <a:solidFill>
                <a:srgbClr val="52606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884</Words>
  <Application>WPS 演示</Application>
  <PresentationFormat>Converted Presentation</PresentationFormat>
  <Paragraphs>145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Arial Unicode MS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邵磊</cp:lastModifiedBy>
  <cp:revision>6</cp:revision>
  <dcterms:created xsi:type="dcterms:W3CDTF">2026-09-21T08:49:00Z</dcterms:created>
  <dcterms:modified xsi:type="dcterms:W3CDTF">2026-09-29T06:22:59Z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33C2E2B6FFF64D8EB4853520694BF994_12</vt:lpwstr>
  </property>
</Properties>
</file>